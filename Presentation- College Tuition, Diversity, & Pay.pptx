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87" r:id="rId8"/>
    <p:sldId id="263" r:id="rId9"/>
    <p:sldId id="264" r:id="rId10"/>
    <p:sldId id="265" r:id="rId11"/>
    <p:sldId id="30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1" r:id="rId20"/>
    <p:sldId id="290" r:id="rId21"/>
    <p:sldId id="283" r:id="rId22"/>
    <p:sldId id="284" r:id="rId23"/>
    <p:sldId id="285" r:id="rId24"/>
    <p:sldId id="273" r:id="rId25"/>
    <p:sldId id="274" r:id="rId26"/>
    <p:sldId id="276" r:id="rId27"/>
    <p:sldId id="280" r:id="rId28"/>
    <p:sldId id="275" r:id="rId29"/>
    <p:sldId id="277" r:id="rId30"/>
    <p:sldId id="278" r:id="rId31"/>
    <p:sldId id="300" r:id="rId32"/>
    <p:sldId id="282" r:id="rId33"/>
    <p:sldId id="279" r:id="rId34"/>
    <p:sldId id="281" r:id="rId35"/>
    <p:sldId id="289" r:id="rId36"/>
    <p:sldId id="293" r:id="rId37"/>
    <p:sldId id="297" r:id="rId38"/>
    <p:sldId id="298" r:id="rId39"/>
    <p:sldId id="295" r:id="rId40"/>
    <p:sldId id="299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1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6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2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5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5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2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6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6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28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3053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52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68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06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48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8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94313-B9B6-4A63-AC56-A929C6F1A3B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E7397-AE47-487C-BD6C-80044FEFA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33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kaggle.com/datasets/jessemostipak/college-tuition-diversity-and-pay?resource=download&amp;select=tuition_cost.csv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xels.com/photo/exhausted-woman-holding-her-head-6919710/" TargetMode="External"/><Relationship Id="rId3" Type="http://schemas.openxmlformats.org/officeDocument/2006/relationships/hyperlink" Target="https://www.pexels.com/photo/woman-holding-black-wallet-3768145/" TargetMode="External"/><Relationship Id="rId7" Type="http://schemas.openxmlformats.org/officeDocument/2006/relationships/hyperlink" Target="https://www.pexels.com/photo/woman-and-receipts-on-desk-5900131/" TargetMode="External"/><Relationship Id="rId2" Type="http://schemas.openxmlformats.org/officeDocument/2006/relationships/hyperlink" Target="https://www.pexels.com/photo/people-sitting-inside-well-lit-room-15974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xels.com/photo/woman-sitting-on-an-office-chair-with-money-flying-all-around-her-7654610/" TargetMode="External"/><Relationship Id="rId5" Type="http://schemas.openxmlformats.org/officeDocument/2006/relationships/hyperlink" Target="https://www.pexels.com/photo/stock-exchange-board-210607/" TargetMode="External"/><Relationship Id="rId10" Type="http://schemas.openxmlformats.org/officeDocument/2006/relationships/hyperlink" Target="https://www.pexels.com/photo/person-holding-white-scroll-2292837/" TargetMode="External"/><Relationship Id="rId4" Type="http://schemas.openxmlformats.org/officeDocument/2006/relationships/hyperlink" Target="https://www.pexels.com/photo/gray-and-black-laptop-computer-265087/" TargetMode="External"/><Relationship Id="rId9" Type="http://schemas.openxmlformats.org/officeDocument/2006/relationships/hyperlink" Target="https://www.pexels.com/photo/man-standing-in-the-middle-of-road-15537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724C-B9FB-4FBC-8CD9-FF070C87F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100" y="134576"/>
            <a:ext cx="11590611" cy="11525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College tuition, diversity, &amp; Pay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265DF-1B2F-4826-31A1-0C283FE11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975" y="2864507"/>
            <a:ext cx="9001462" cy="16557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NYC Data Science Academy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Python Data Analysis Project</a:t>
            </a: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Edward Weldon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6/13/2025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7CAE3-9DBA-B5C0-0B20-D9517FD7B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601" y="1287117"/>
            <a:ext cx="8171546" cy="545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8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4974-DD4B-1D99-709B-D913EA3A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4A58-7652-C345-65BC-90240DB8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5CA-3365-1663-45B6-98D49669A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Tuition costs keep rising along with student debt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Graduates often wind up in career paths that have little to do with their degrees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Even take bootcamps to learn more technical field (like Data Science)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Large Language Models like ChatGPT are also diminishing the value of many degrees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With even more AI automation to 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9692B-B950-7EA0-67B6-0B3C55B91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218" y="3429000"/>
            <a:ext cx="4675683" cy="324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2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3A15-633A-F977-257E-45C9FBE5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3793-A592-3153-84D2-5A8BC6A6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8ADB-BBBE-BD58-B2F0-387A7411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u="sng" dirty="0">
                <a:solidFill>
                  <a:schemeClr val="tx1"/>
                </a:solidFill>
              </a:rPr>
              <a:t>Is College still worth it</a:t>
            </a:r>
            <a:r>
              <a:rPr lang="en-US" sz="2500" u="sng" dirty="0"/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For Everyone?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Which Schools, Types, States, Sizes, …</a:t>
            </a:r>
          </a:p>
          <a:p>
            <a:pPr marL="457200" lvl="1" indent="0">
              <a:buNone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u="sng" dirty="0"/>
              <a:t>Goals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Give parents &amp; students perspective to make better college &amp; career choices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Push colleges to make programs more profitable for students</a:t>
            </a:r>
          </a:p>
          <a:p>
            <a:pPr marL="457200" lvl="1" indent="0">
              <a:buNone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u="sng" dirty="0"/>
              <a:t>To Assess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Net Present Value (NPV) of College Costs and Future Earnings</a:t>
            </a:r>
          </a:p>
        </p:txBody>
      </p:sp>
    </p:spTree>
    <p:extLst>
      <p:ext uri="{BB962C8B-B14F-4D97-AF65-F5344CB8AC3E}">
        <p14:creationId xmlns:p14="http://schemas.microsoft.com/office/powerpoint/2010/main" val="134841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46BA-1977-1A45-4CD3-09F4834C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FC92-D42C-72F4-B082-77E78299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Present Value (PV)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58719-CD20-3648-B38B-C67A25266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Present Day equivalent of future Income or Expenses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Having $50 today is better than receiving $50 in a year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PV = FV / (1 + r)</a:t>
            </a:r>
            <a:r>
              <a:rPr lang="en-US" sz="2500" baseline="30000" dirty="0"/>
              <a:t>n     </a:t>
            </a:r>
            <a:r>
              <a:rPr lang="en-US" sz="2500" dirty="0"/>
              <a:t>where..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FV = Future Payment (Income or Expense)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r = Rate of Return on Investment (Discount Rate)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/>
              <a:t>After-Tax Real Rate of Return on S&amp;P 500 will be used here (10-yr avg)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900" dirty="0"/>
              <a:t>Return net of Taxes and Inflation- 6% annualized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n = time till payment (# of years, weeks, …)</a:t>
            </a:r>
            <a:endParaRPr lang="en-US" sz="23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/>
          </a:p>
        </p:txBody>
      </p:sp>
      <p:pic>
        <p:nvPicPr>
          <p:cNvPr id="5" name="Picture 4" descr="A computer and tablet with graphs on the screen&#10;&#10;AI-generated content may be incorrect.">
            <a:extLst>
              <a:ext uri="{FF2B5EF4-FFF2-40B4-BE49-F238E27FC236}">
                <a16:creationId xmlns:a16="http://schemas.microsoft.com/office/drawing/2014/main" id="{E0134563-1730-F3C0-9F8F-65F9C25F9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725" y="1066461"/>
            <a:ext cx="3086839" cy="236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47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DE4B-1134-0923-B6CA-52D41225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9033-E14F-760A-B7BA-D21DE316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Collection &amp;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3FE1-55BA-28FF-281F-B3905D3F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Kaggle 'College tuition, diversity, and pay' dataset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effectLst/>
                <a:hlinkClick r:id="rId2"/>
              </a:rPr>
              <a:t>https://www.kaggle.com/datasets/jessemostipak/college-tuition-diversity-and-pay?resource=download&amp;select=tuition_cost.csv</a:t>
            </a:r>
            <a:endParaRPr lang="en-US" dirty="0">
              <a:effectLst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chemeClr val="tx1"/>
                </a:solidFill>
                <a:effectLst/>
              </a:rPr>
              <a:t>Usability Score 10, code notebooks, many views &amp; downloads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>
                <a:effectLst/>
              </a:rPr>
              <a:t>Updated 5 yrs ago, mostly data from 2018-2019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>
                <a:solidFill>
                  <a:schemeClr val="tx1"/>
                </a:solidFill>
                <a:effectLst/>
              </a:rPr>
              <a:t>5 files- 33 columns with wide range of String &amp; Integer values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>
                <a:effectLst/>
              </a:rPr>
              <a:t>Tuition Cost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effectLst/>
              </a:rPr>
              <a:t>Salary Potential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>
                <a:effectLst/>
              </a:rPr>
              <a:t>Diversity School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  <a:effectLst/>
              </a:rPr>
              <a:t>Tuition Income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100" dirty="0">
                <a:effectLst/>
              </a:rPr>
              <a:t>Historical Tuition</a:t>
            </a:r>
            <a:endParaRPr lang="en-US" sz="2100" dirty="0">
              <a:solidFill>
                <a:schemeClr val="tx1"/>
              </a:solidFill>
              <a:effectLst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 shot of a stock market&#10;&#10;AI-generated content may be incorrect.">
            <a:extLst>
              <a:ext uri="{FF2B5EF4-FFF2-40B4-BE49-F238E27FC236}">
                <a16:creationId xmlns:a16="http://schemas.microsoft.com/office/drawing/2014/main" id="{00A0E0D2-388A-7DC4-40C8-25FC48FDE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782" y="3504434"/>
            <a:ext cx="4802258" cy="320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4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F4DF-0D6C-BCDC-C5D4-6755FE9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3252-07C1-AAF9-9361-899E6C6F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8B521-C574-8F59-BF37-EFC25C0A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Null &amp; Duplicate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‘Tuition Income’ file unusable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marL="0" indent="0">
              <a:buNone/>
            </a:pPr>
            <a:endParaRPr lang="en-US" sz="23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5A789C-2C18-4027-96A8-819E43989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" y="2019630"/>
            <a:ext cx="11943600" cy="401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04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1CFB-554E-AE82-1D23-0F394D2B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5FCE-6DC0-3499-8E17-D86159CB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17F4-5F4B-4F3C-E706-020FF9432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‘Historical Tuition’ file unusable for this analysis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2500" b="1" u="sng" dirty="0"/>
              <a:t>Now down to 3 files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2500" dirty="0"/>
              <a:t>Tuition Cost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2500" dirty="0"/>
              <a:t>Salary Potential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2500" dirty="0"/>
              <a:t>Diversity School</a:t>
            </a:r>
          </a:p>
          <a:p>
            <a:pPr marL="3657600" lvl="8" indent="0">
              <a:buNone/>
            </a:pPr>
            <a:endParaRPr lang="en-US" sz="17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900" dirty="0"/>
          </a:p>
          <a:p>
            <a:pPr marL="0" indent="0">
              <a:buNone/>
            </a:pPr>
            <a:endParaRPr lang="en-US" sz="23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B79C9-F62B-119A-5365-9A81387B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1305418"/>
            <a:ext cx="3832935" cy="514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17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E421-072E-2E5E-5E10-85B3E701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50BA-EAC7-07D9-51BE-5B52C3F2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E42C-18C2-D1F7-2428-299047CB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Capitalization, Integer conversions, Output Display reformatting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Duplicates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6B148-AD74-D494-96A5-C7BC5AA7F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92" y="1913619"/>
            <a:ext cx="10976743" cy="3701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5E8E59-BD32-8F60-9F1F-5AE3AA9B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92" y="5729047"/>
            <a:ext cx="10224564" cy="10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6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7AD6-8651-8567-393E-CEC08A30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0CE6-EEA4-CA95-E800-373C9BB4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DFE9-1DB1-D69E-64D8-31277AC2B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NULL Room and Board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2A8BE-10B4-A715-0CAB-89977D0C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40" y="1474740"/>
            <a:ext cx="5749709" cy="52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90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3CD9-4D90-C3A9-878D-C4B0199B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1C69-3E65-112E-FCD6-B62ECE765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B1EA8-5048-E77F-9314-D1AD16F26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NULL values in Diversity School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2B5E5-B5B4-C797-EBAA-0B33A2484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49843"/>
            <a:ext cx="6092703" cy="481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5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B383-3050-6BB0-75C0-589E948D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0D6E-0151-85C4-7277-D392E3BF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6C9C-0B19-9B31-379C-0F3D07F0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NULL Values in Salary Potential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Many Colleges had to be renamed to align in all 3 tables</a:t>
            </a: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6B3A0-334E-4891-D078-8A35C7F8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29" y="1127021"/>
            <a:ext cx="11476150" cy="2722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A6BD5-683E-5CE1-BDEC-F81DDB3F4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9" y="4337324"/>
            <a:ext cx="3464100" cy="236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94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87DA-570F-E037-7037-456FD8C2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E46C-A0F4-401B-3C54-BD18C561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43A45-6B97-E401-FA66-0314F952C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Name- State index columns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268829-482D-2D03-905E-4730DED56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9" y="1508201"/>
            <a:ext cx="4811601" cy="3325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9F7735-A849-DACD-94C5-48C45599D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19" y="5043547"/>
            <a:ext cx="11738245" cy="122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9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859B-E982-4E85-D0C0-29F6281A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EEF7-F8B7-5E39-F7A3-9F60EA8E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F7D4B-0E3E-CA04-5419-B5843A96C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Diversity School % Enrollment</a:t>
            </a: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Single Row Copies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9F802B-A5F3-A3F9-9C94-00403C51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4" y="1435608"/>
            <a:ext cx="10730533" cy="2340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3341F-FC11-52AB-BF01-CCC180127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4" y="4388846"/>
            <a:ext cx="10730983" cy="138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2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40F4-1FCF-1B05-10D7-A143DAD2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4A5-7EF9-B933-7315-575ED15E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539BE-E0E3-8733-03C3-1CA40834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Total Career Pay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Total Cost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F67F1-06A8-D1BE-CB14-F3032DDA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14" y="4366706"/>
            <a:ext cx="8926171" cy="180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CB16F7-7350-7351-A177-2CAEEE83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14" y="1439233"/>
            <a:ext cx="5363281" cy="19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5190-8E3B-348A-862A-8DD490922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C4DA-3FD0-B710-D441-0D4C3EA4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Data Transformation- Merging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C1120-2F2E-9392-DE03-A610924F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Many combinations to minimize data loss for different plots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A8BA3-5909-5C53-6DA3-B33C5B36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62111"/>
            <a:ext cx="5565648" cy="53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14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B07C-B550-36C7-5138-68058429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90DE-0FF3-A981-AAAD-A0788FAB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Data Transformation- Merging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82B73-88D3-D0FE-027E-A8ED969E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Tuition Cost- Salary Potential Merges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Career Pay formula adjustments by Degree Length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300" dirty="0"/>
              <a:t>Net Present Value functions added for Degree Profit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2BC19-4C62-9CEA-D738-E0E05C2A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72" y="2803464"/>
            <a:ext cx="7524840" cy="21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61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699E9-409B-F491-52DE-CBE3EBCB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698F-32A5-6642-F2F2-29983CD3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Analysis- By college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535B8-F686-B150-9827-ABD3872D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32104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Most Profitable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09210-0C5D-1B5C-EBEB-DA733FCB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218670"/>
            <a:ext cx="9200452" cy="561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2D98-4315-8A07-2D20-7602FF2B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31FB-AACD-8BCE-B82A-3D67203F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college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DBB2B5-BABA-8C75-319D-6CCF6AEF8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903" y="749808"/>
            <a:ext cx="11286060" cy="6108192"/>
          </a:xfrm>
        </p:spPr>
      </p:pic>
    </p:spTree>
    <p:extLst>
      <p:ext uri="{BB962C8B-B14F-4D97-AF65-F5344CB8AC3E}">
        <p14:creationId xmlns:p14="http://schemas.microsoft.com/office/powerpoint/2010/main" val="161703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B700-FCEA-0454-631A-CE10DEAC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FC32-B775-5E9D-3EF4-C5D4B40D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Tuition Salary Correlations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DC61F8-4596-B99B-2BC7-80268DAA4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768" y="661892"/>
            <a:ext cx="9296464" cy="6127745"/>
          </a:xfrm>
        </p:spPr>
      </p:pic>
    </p:spTree>
    <p:extLst>
      <p:ext uri="{BB962C8B-B14F-4D97-AF65-F5344CB8AC3E}">
        <p14:creationId xmlns:p14="http://schemas.microsoft.com/office/powerpoint/2010/main" val="2415230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1508-4EB3-EC50-46FF-69C3BE59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58F9-3C9C-0DE0-D414-47D7DCA5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Cost, Pay, Profit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EE834-381E-9BB8-ECF0-B4294169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9CC9E-B03C-9400-B178-116EF298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749808"/>
            <a:ext cx="11923174" cy="488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94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FE3D-BA04-B965-B1FD-109D6930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5F7E-C75C-C844-5081-0B1E3A32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Cost, Pay, Profit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B75A3-D756-7CD6-837E-F0C0FB95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DCEDA-BA8F-B15B-869E-65ED455D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00" y="749808"/>
            <a:ext cx="11087769" cy="60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87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519C-4848-1C6F-211C-C2F83649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E8E2-08BB-852C-148B-831D63535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Cost, Pay, Profit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79F71-748C-D393-9313-06FCE160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3A6B4-1C62-796D-1351-961AB6573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32" y="758289"/>
            <a:ext cx="7773988" cy="609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46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3E42-2A71-4CDA-2BE6-971011F4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207D-3AA6-CD5D-D856-E4BE6A87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Cost, Pay, Profit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47E51-DFD5-9240-F8A0-33C778E7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28" y="669749"/>
            <a:ext cx="11431595" cy="310558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84C0E-42CD-C7B9-5D73-C053BB1CB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9BD8D-039F-CBFA-5600-8E4EDBEFD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28" y="3775332"/>
            <a:ext cx="11431595" cy="30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2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FF00-EB72-C0A2-0358-8D12016F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2197-71E2-A21F-8F2E-CCA6CD95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Analysis-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B80A-7EBD-E71A-1F03-F766F5EA2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Top 10 Highest Paying- Total vs PV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AAF34-5AB0-93CB-D14C-36D4CDA15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401919"/>
            <a:ext cx="11875346" cy="488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95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CC7D-8CD2-8002-6C65-1CE510DE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3CEA-0D27-CC7B-B039-F4BC32A8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state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3D0D-8BDC-90E4-3718-6A8D16A95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/>
              <a:t>Most Profitable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3C501-F6C6-3010-7753-8109A969A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90365"/>
            <a:ext cx="11934508" cy="494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54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99F12-5CBF-6FCA-EA70-7A37217F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480C-732A-D7B8-9E43-4C6A2D19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state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655E-DE3E-E17D-CDC4-FFC7C36D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Highest STEM%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A9FDF-586D-13B5-22AC-6A17059C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38350"/>
            <a:ext cx="10759094" cy="54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75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CAB3-4684-01C5-CFAD-F42DD41D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0D37-918F-F9BC-6474-8B95A805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state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9286-23AC-0ECD-43C2-0630EC492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Room &amp; Board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AB148-0AC5-DA99-F147-D7C6076F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5" y="1347926"/>
            <a:ext cx="11935303" cy="50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37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9DB79-307C-4214-CF66-0F31E001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2D91-C25D-7334-97E8-82FCBA15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state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B6C4-DEA8-40C4-908B-0FCD6DB7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Least Profitable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BB2AA-BFB4-9051-3687-55900970B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455520"/>
            <a:ext cx="11889737" cy="491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5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4CD4-0969-D95B-F32C-0F4BFCC6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2121-84D4-35FF-4BD6-4425615B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state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401E-919F-DD1F-66E9-D0136EA2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Highest Make World Better %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F7B38-A665-337B-96CB-9EEAC2C67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21544"/>
            <a:ext cx="11383681" cy="552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87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720F-751E-C3FC-6945-2C14AF7A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1F54-768A-B553-E5A9-CAF196B1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type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662B-9F6B-E9B3-26C7-B62B30C42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84" y="621792"/>
            <a:ext cx="11824780" cy="60841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Tuition</a:t>
            </a:r>
            <a:r>
              <a:rPr lang="en-US" dirty="0">
                <a:solidFill>
                  <a:schemeClr val="tx1"/>
                </a:solidFill>
              </a:rPr>
              <a:t> (In State)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Tuition (Out of State)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23879-E946-7ED1-CC06-C009E3902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3" y="979372"/>
            <a:ext cx="8215639" cy="2559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9065D2-4E6A-BA9E-CFCB-350E4C08D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12" y="3905176"/>
            <a:ext cx="8215639" cy="269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06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73A5-97F2-1FE2-131D-03C4EABA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F0BC-84EA-69BB-4BD8-1C735AFB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type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C994-15FD-D4AD-6AD1-89A5108CE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Room &amp; Board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1A154-19A6-B08C-6D9B-B73E9648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96865"/>
            <a:ext cx="11824780" cy="41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3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91C4-5E33-EE86-EECC-3A6EA3B3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29288-85A9-0D28-9EA8-9CA84FE7B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type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898E5E-1ABF-92AB-6F37-64F77E56B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3668" y="749808"/>
            <a:ext cx="9768993" cy="6108192"/>
          </a:xfrm>
        </p:spPr>
      </p:pic>
    </p:spTree>
    <p:extLst>
      <p:ext uri="{BB962C8B-B14F-4D97-AF65-F5344CB8AC3E}">
        <p14:creationId xmlns:p14="http://schemas.microsoft.com/office/powerpoint/2010/main" val="846877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79B8-2CA3-5262-8645-158A8C97B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5E62-40FC-C384-A3BB-DA1D1285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type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7A984-CF8D-0A68-F022-1A729200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Profitability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90912-47BC-6C92-06C2-4830D2F8A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44277"/>
            <a:ext cx="11902045" cy="480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59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EB6F4-AFC6-98AE-C9AB-5CE57BDB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1622-F1BA-2694-8639-6CBD0264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Degree Length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6F01-3AB1-5CE4-549F-C125DD013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Profitability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7E2E3-2E4A-8414-ED55-D09D9784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6" y="1387630"/>
            <a:ext cx="11963534" cy="50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03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F88D1-405B-D592-2656-E91099F8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5A68-28EE-3EEB-C595-CD8F2A4D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dirty="0"/>
              <a:t>Analysis- By Degree Length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EC2B-88BD-3BA2-0E1F-7CCB32561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500" i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9B752-DBBA-7C08-7C0E-0784225A4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57" y="761685"/>
            <a:ext cx="9538780" cy="600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44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C0C7-E241-B7B8-12DF-37EBC704A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5FAB-36F9-6C3A-778F-801D179D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Conclusions- Most lucrative Schools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F8A59-C433-7743-A801-1AE06591C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Concentrated in CA, NY, MA, PA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Highest Future Earnings, mostly regardless of cost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High Earnings to cost ratio put SUNY Maritime at the 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Also, Most Expensive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Higher Tuition, Room &amp; Board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900" dirty="0"/>
              <a:t>High Cost of Living States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High STEM %, Low Make World Better 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Large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NPV of Future Earnings &amp; Costs significant factor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00DBA-B044-4450-A43E-CB468533A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020" y="822960"/>
            <a:ext cx="4001196" cy="58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95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44A9-8B92-99BD-504C-758DD4E0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884A-F1E5-1AA0-13B3-EA8AF4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Conclusions- Most Expensive Schools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87E1-D7AA-6449-26E0-BEBCD6E46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Public colleges cheaper than For Profit &amp; Private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Even when out of state</a:t>
            </a:r>
            <a:endParaRPr lang="en-US" sz="25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100" dirty="0"/>
              <a:t>Even have lowest room &amp; board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High STEM % schools more expensive, High Make World Better % less expensive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No correlation with School Size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C2A96E-BCEF-BC5D-E03A-0CDCE6319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270304"/>
            <a:ext cx="5934456" cy="3508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36FCE4-637F-98CF-13E7-99D84469A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30" y="2706815"/>
            <a:ext cx="4131698" cy="40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60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86D8C-4F5D-16CE-8949-50070A57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9441-4F26-7062-CF27-6D9D42C3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504BE-1BCE-6A3C-07F4-E0575451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/>
              <a:t>Comparison to Career Paths without any College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By Degree, Career Path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By School Rank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Bootcamps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International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/>
              <a:t>Income Tax in other States</a:t>
            </a:r>
          </a:p>
        </p:txBody>
      </p:sp>
      <p:pic>
        <p:nvPicPr>
          <p:cNvPr id="6" name="Picture 5" descr="A person looking up to the sky&#10;&#10;AI-generated content may be incorrect.">
            <a:extLst>
              <a:ext uri="{FF2B5EF4-FFF2-40B4-BE49-F238E27FC236}">
                <a16:creationId xmlns:a16="http://schemas.microsoft.com/office/drawing/2014/main" id="{6CAEF7D8-7FDC-CF9B-FB5C-56753832D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022" y="822960"/>
            <a:ext cx="3988282" cy="599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01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76A3-2D9F-D05E-F73A-777DF243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B1CB-5359-0861-E96B-8835AB0E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1C596-7BB5-E00B-9386-C8C069DB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DE742-2033-DA41-43C2-AD371E7A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355" y="749808"/>
            <a:ext cx="9544942" cy="599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84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2436-1CD5-640B-07F4-E7DFCA01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3680-FD14-E303-5E4A-7C8AE1D7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6" y="152061"/>
            <a:ext cx="11824780" cy="597747"/>
          </a:xfrm>
        </p:spPr>
        <p:txBody>
          <a:bodyPr>
            <a:normAutofit/>
          </a:bodyPr>
          <a:lstStyle/>
          <a:p>
            <a:r>
              <a:rPr lang="en-US" b="1" dirty="0"/>
              <a:t>Image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6215-12ED-7815-D48F-C7A31BA8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6" y="822960"/>
            <a:ext cx="11824780" cy="588297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2"/>
              </a:rPr>
              <a:t>https://www.pexels.com/photo/people-sitting-inside-well-lit-room-159740/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3"/>
              </a:rPr>
              <a:t>https://www.pexels.com/photo/woman-holding-black-wallet-3768145/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4"/>
              </a:rPr>
              <a:t>https://www.pexels.com/photo/gray-and-black-laptop-computer-265087/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5"/>
              </a:rPr>
              <a:t>https://www.pexels.com/photo/stock-exchange-board-210607/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6"/>
              </a:rPr>
              <a:t>https://www.pexels.com/photo/woman-sitting-on-an-office-chair-with-money-flying-all-around-her-7654610/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7"/>
              </a:rPr>
              <a:t>https://www.pexels.com/photo/woman-and-receipts-on-desk-5900131/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8"/>
              </a:rPr>
              <a:t>https://www.pexels.com/photo/exhausted-woman-holding-her-head-6919710/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9"/>
              </a:rPr>
              <a:t>https://www.pexels.com/photo/man-standing-in-the-middle-of-road-1553783/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hlinkClick r:id="rId10"/>
              </a:rPr>
              <a:t>https://www.pexels.com/photo/person-holding-white-scroll-2292837/</a:t>
            </a: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914664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1015</TotalTime>
  <Words>797</Words>
  <Application>Microsoft Office PowerPoint</Application>
  <PresentationFormat>Widescreen</PresentationFormat>
  <Paragraphs>190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Bookman Old Style</vt:lpstr>
      <vt:lpstr>Rockwell</vt:lpstr>
      <vt:lpstr>Wingdings</vt:lpstr>
      <vt:lpstr>Damask</vt:lpstr>
      <vt:lpstr>College tuition, diversity, &amp; Pay</vt:lpstr>
      <vt:lpstr>Background</vt:lpstr>
      <vt:lpstr>Questions</vt:lpstr>
      <vt:lpstr>Present Value (PV)</vt:lpstr>
      <vt:lpstr>Data Collection &amp; Overview</vt:lpstr>
      <vt:lpstr>Data Inspection</vt:lpstr>
      <vt:lpstr>Data Inspection</vt:lpstr>
      <vt:lpstr>Data cleaning</vt:lpstr>
      <vt:lpstr>Data cleaning</vt:lpstr>
      <vt:lpstr>Data Cleaning</vt:lpstr>
      <vt:lpstr>Data cleaning</vt:lpstr>
      <vt:lpstr>Data Transformation</vt:lpstr>
      <vt:lpstr>Data Transformation</vt:lpstr>
      <vt:lpstr>Data Transformation</vt:lpstr>
      <vt:lpstr>Data Transformation- Merging</vt:lpstr>
      <vt:lpstr>Data Transformation- Merging</vt:lpstr>
      <vt:lpstr>Analysis- By college</vt:lpstr>
      <vt:lpstr>Analysis- By college</vt:lpstr>
      <vt:lpstr>Analysis- Tuition Salary Correlations</vt:lpstr>
      <vt:lpstr>Analysis- Cost, Pay, Profit</vt:lpstr>
      <vt:lpstr>analysis- Cost, Pay, Profit</vt:lpstr>
      <vt:lpstr>analysis- Cost, Pay, Profit</vt:lpstr>
      <vt:lpstr>Analysis- Cost, Pay, Profit</vt:lpstr>
      <vt:lpstr>Analysis- By state</vt:lpstr>
      <vt:lpstr>Analysis- By state</vt:lpstr>
      <vt:lpstr>Analysis- By state</vt:lpstr>
      <vt:lpstr>Analysis- By state</vt:lpstr>
      <vt:lpstr>Analysis- By state</vt:lpstr>
      <vt:lpstr>Analysis- By state</vt:lpstr>
      <vt:lpstr>Analysis- By type</vt:lpstr>
      <vt:lpstr>Analysis- By type</vt:lpstr>
      <vt:lpstr>Analysis- By type</vt:lpstr>
      <vt:lpstr>Analysis- By type</vt:lpstr>
      <vt:lpstr>Analysis- By Degree Length</vt:lpstr>
      <vt:lpstr>Analysis- By Degree Length</vt:lpstr>
      <vt:lpstr>Conclusions- Most lucrative Schools</vt:lpstr>
      <vt:lpstr>Conclusions- Most Expensive Schools</vt:lpstr>
      <vt:lpstr>Future Work</vt:lpstr>
      <vt:lpstr>Questions?</vt:lpstr>
      <vt:lpstr>Image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Weldon</dc:creator>
  <cp:lastModifiedBy>Ed Weldon</cp:lastModifiedBy>
  <cp:revision>22</cp:revision>
  <dcterms:created xsi:type="dcterms:W3CDTF">2025-06-08T01:58:44Z</dcterms:created>
  <dcterms:modified xsi:type="dcterms:W3CDTF">2025-06-28T00:00:39Z</dcterms:modified>
</cp:coreProperties>
</file>